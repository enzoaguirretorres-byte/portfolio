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Lst>
  <p:sldSz cx="219456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9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65EB77-77A5-3553-F142-E488D4C28294}" v="6" dt="2026-04-24T20:48:22.817"/>
    <p1510:client id="{02F99111-CA4C-EED2-5857-3D581A6ABD21}" v="9" dt="2026-04-24T16:07:27.698"/>
    <p1510:client id="{06D78AF1-08C8-695D-3FD8-9360D841D831}" v="261" dt="2026-04-25T00:40:00.842"/>
    <p1510:client id="{2DAB4DF7-539F-1302-AB02-03F305D99256}" v="10" dt="2026-04-25T00:17:05.374"/>
    <p1510:client id="{4BCB503A-55DE-66F5-8E94-B87E08CAC858}" v="1" dt="2026-04-24T18:18:04.409"/>
    <p1510:client id="{52CCD5B6-05FB-8FB0-9EF1-41FABA6DE34C}" v="123" dt="2026-04-25T00:47:22.209"/>
    <p1510:client id="{7B55F1B6-376D-A123-DB4E-B265974DC49E}" v="2" dt="2026-04-25T00:11:50.318"/>
    <p1510:client id="{9F50F20C-C441-A4B5-51A4-D5CBB33B1EBA}" v="746" dt="2026-04-24T18:06:05.266"/>
    <p1510:client id="{A2FE2E3D-89F4-D359-36CC-EE074C6713DE}" v="2868" dt="2026-04-25T00:11:31.215"/>
    <p1510:client id="{AED23494-8433-16CF-E098-A47BFD5EC2D4}" v="34" dt="2026-04-24T20:18:59.390"/>
    <p1510:client id="{BAF45561-C075-A39A-C896-BA4DA5EE6FD7}" v="302" dt="2026-04-24T23:32:12.780"/>
    <p1510:client id="{CED727FB-4AE3-5C64-DB63-EE1A61391D19}" v="668" dt="2026-04-24T18:29:00.122"/>
    <p1510:client id="{ECE5211D-729C-6B97-D9F9-31FE98A422CB}" v="1069" dt="2026-04-24T15:18:55.647"/>
    <p1510:client id="{EE3F8335-C0C2-5E43-24DE-FB36EE97C394}" v="8" dt="2026-04-25T01:59:45.873"/>
    <p1510:client id="{FAED4626-717B-53A8-68A4-007F625DA267}" v="10" dt="2026-04-25T00:15:13.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291241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4C01DA-FED5-444E-BEF6-A26E82E5EC3F}"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1129798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4C01DA-FED5-444E-BEF6-A26E82E5EC3F}"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4288721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4C01DA-FED5-444E-BEF6-A26E82E5EC3F}"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107547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4C01DA-FED5-444E-BEF6-A26E82E5EC3F}"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538990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4C01DA-FED5-444E-BEF6-A26E82E5EC3F}"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2000876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4C01DA-FED5-444E-BEF6-A26E82E5EC3F}"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3867995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294C01DA-FED5-444E-BEF6-A26E82E5EC3F}"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315880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294C01DA-FED5-444E-BEF6-A26E82E5EC3F}"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242956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4C01DA-FED5-444E-BEF6-A26E82E5EC3F}"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2431721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4C01DA-FED5-444E-BEF6-A26E82E5EC3F}"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2596987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508760" y="30510488"/>
            <a:ext cx="4937760" cy="1752600"/>
          </a:xfrm>
          <a:prstGeom prst="rect">
            <a:avLst/>
          </a:prstGeom>
        </p:spPr>
        <p:txBody>
          <a:bodyPr/>
          <a:lstStyle/>
          <a:p>
            <a:fld id="{294C01DA-FED5-444E-BEF6-A26E82E5EC3F}" type="datetimeFigureOut">
              <a:rPr lang="en-US" smtClean="0"/>
              <a:t>5/13/2026</a:t>
            </a:fld>
            <a:endParaRPr lang="en-US"/>
          </a:p>
        </p:txBody>
      </p:sp>
      <p:sp>
        <p:nvSpPr>
          <p:cNvPr id="5" name="Footer Placeholder 4"/>
          <p:cNvSpPr>
            <a:spLocks noGrp="1"/>
          </p:cNvSpPr>
          <p:nvPr>
            <p:ph type="ftr" sz="quarter" idx="11"/>
          </p:nvPr>
        </p:nvSpPr>
        <p:spPr>
          <a:xfrm>
            <a:off x="7269480" y="30510488"/>
            <a:ext cx="740664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15499080" y="30510488"/>
            <a:ext cx="4937760" cy="1752600"/>
          </a:xfrm>
          <a:prstGeom prst="rect">
            <a:avLst/>
          </a:prstGeom>
        </p:spPr>
        <p:txBody>
          <a:bodyPr/>
          <a:lstStyle/>
          <a:p>
            <a:fld id="{AD7C13BF-879A-4A02-8B39-F5891580318F}" type="slidenum">
              <a:rPr lang="en-US" smtClean="0"/>
              <a:t>‹#›</a:t>
            </a:fld>
            <a:endParaRPr lang="en-US"/>
          </a:p>
        </p:txBody>
      </p:sp>
    </p:spTree>
    <p:extLst>
      <p:ext uri="{BB962C8B-B14F-4D97-AF65-F5344CB8AC3E}">
        <p14:creationId xmlns:p14="http://schemas.microsoft.com/office/powerpoint/2010/main" val="1509888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75000"/>
                  </a:schemeClr>
                </a:solidFill>
              </a:defRPr>
            </a:lvl1pPr>
          </a:lstStyle>
          <a:p>
            <a:fld id="{C764DE79-268F-4C1A-8933-263129D2AF90}" type="datetimeFigureOut">
              <a:rPr lang="en-US" smtClean="0"/>
              <a:t>5/13/2026</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75000"/>
                  </a:schemeClr>
                </a:solidFill>
              </a:defRPr>
            </a:lvl1pPr>
          </a:lstStyle>
          <a:p>
            <a:fld id="{48F63A3B-78C7-47BE-AE5E-E10140E04643}" type="slidenum">
              <a:rPr lang="en-US" smtClean="0"/>
              <a:t>‹#›</a:t>
            </a:fld>
            <a:endParaRPr lang="en-US"/>
          </a:p>
        </p:txBody>
      </p:sp>
      <p:sp>
        <p:nvSpPr>
          <p:cNvPr id="7" name="Rectangle 6">
            <a:extLst>
              <a:ext uri="{FF2B5EF4-FFF2-40B4-BE49-F238E27FC236}">
                <a16:creationId xmlns:a16="http://schemas.microsoft.com/office/drawing/2014/main" id="{426384E7-3991-75D6-89C3-67533B803E36}"/>
              </a:ext>
            </a:extLst>
          </p:cNvPr>
          <p:cNvSpPr/>
          <p:nvPr userDrawn="1"/>
        </p:nvSpPr>
        <p:spPr>
          <a:xfrm>
            <a:off x="0" y="0"/>
            <a:ext cx="21945600" cy="3643078"/>
          </a:xfrm>
          <a:prstGeom prst="rect">
            <a:avLst/>
          </a:prstGeom>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03"/>
          </a:p>
        </p:txBody>
      </p:sp>
      <p:sp>
        <p:nvSpPr>
          <p:cNvPr id="8" name="Rectangle 7">
            <a:extLst>
              <a:ext uri="{FF2B5EF4-FFF2-40B4-BE49-F238E27FC236}">
                <a16:creationId xmlns:a16="http://schemas.microsoft.com/office/drawing/2014/main" id="{5B2C8DC8-5752-8A83-61EB-751491F8E091}"/>
              </a:ext>
            </a:extLst>
          </p:cNvPr>
          <p:cNvSpPr/>
          <p:nvPr userDrawn="1"/>
        </p:nvSpPr>
        <p:spPr>
          <a:xfrm>
            <a:off x="0" y="3643079"/>
            <a:ext cx="21945600" cy="322729"/>
          </a:xfrm>
          <a:prstGeom prst="rect">
            <a:avLst/>
          </a:prstGeom>
          <a:solidFill>
            <a:srgbClr val="CFB991"/>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03"/>
          </a:p>
        </p:txBody>
      </p:sp>
      <p:pic>
        <p:nvPicPr>
          <p:cNvPr id="9" name="Picture 8">
            <a:extLst>
              <a:ext uri="{FF2B5EF4-FFF2-40B4-BE49-F238E27FC236}">
                <a16:creationId xmlns:a16="http://schemas.microsoft.com/office/drawing/2014/main" id="{8E4E3CF8-2CCA-7014-1532-729701B0EA5E}"/>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201706"/>
            <a:ext cx="4533289" cy="4034118"/>
          </a:xfrm>
          <a:prstGeom prst="rect">
            <a:avLst/>
          </a:prstGeom>
        </p:spPr>
      </p:pic>
    </p:spTree>
    <p:extLst>
      <p:ext uri="{BB962C8B-B14F-4D97-AF65-F5344CB8AC3E}">
        <p14:creationId xmlns:p14="http://schemas.microsoft.com/office/powerpoint/2010/main" val="244045634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E40BC3B-7E8B-BD4F-C5CC-28888B32FDEB}"/>
              </a:ext>
            </a:extLst>
          </p:cNvPr>
          <p:cNvSpPr/>
          <p:nvPr/>
        </p:nvSpPr>
        <p:spPr>
          <a:xfrm>
            <a:off x="0" y="3128960"/>
            <a:ext cx="21945600" cy="275715"/>
          </a:xfrm>
          <a:prstGeom prst="rect">
            <a:avLst/>
          </a:prstGeom>
          <a:solidFill>
            <a:srgbClr val="CFB9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52"/>
          </a:p>
        </p:txBody>
      </p:sp>
      <p:sp>
        <p:nvSpPr>
          <p:cNvPr id="4" name="TextBox 3">
            <a:extLst>
              <a:ext uri="{FF2B5EF4-FFF2-40B4-BE49-F238E27FC236}">
                <a16:creationId xmlns:a16="http://schemas.microsoft.com/office/drawing/2014/main" id="{A6FE858D-5B6E-4C6D-A575-8F26154DAACC}"/>
              </a:ext>
            </a:extLst>
          </p:cNvPr>
          <p:cNvSpPr txBox="1"/>
          <p:nvPr/>
        </p:nvSpPr>
        <p:spPr>
          <a:xfrm>
            <a:off x="4696811" y="187003"/>
            <a:ext cx="16859831" cy="2846292"/>
          </a:xfrm>
          <a:prstGeom prst="rect">
            <a:avLst/>
          </a:prstGeom>
          <a:noFill/>
        </p:spPr>
        <p:txBody>
          <a:bodyPr wrap="square" lIns="91440" tIns="45720" rIns="91440" bIns="45720" rtlCol="0" anchor="t">
            <a:spAutoFit/>
          </a:bodyPr>
          <a:lstStyle/>
          <a:p>
            <a:r>
              <a:rPr lang="en-US" sz="5300" b="1">
                <a:latin typeface="Aptos"/>
                <a:cs typeface="Arial"/>
              </a:rPr>
              <a:t>Adaptive Elbow Rehabilitation Device</a:t>
            </a:r>
          </a:p>
          <a:p>
            <a:endParaRPr lang="en-US" sz="4796" b="1">
              <a:latin typeface="Aptos" panose="020B0004020202020204" pitchFamily="34" charset="0"/>
              <a:cs typeface="Arial" panose="020B0604020202020204" pitchFamily="34" charset="0"/>
            </a:endParaRPr>
          </a:p>
          <a:p>
            <a:r>
              <a:rPr lang="en-US" sz="2600" b="1">
                <a:latin typeface="Aptos"/>
                <a:cs typeface="Arial"/>
              </a:rPr>
              <a:t>Student Names:  Carlos </a:t>
            </a:r>
            <a:r>
              <a:rPr lang="en-US" sz="2600" b="1" err="1">
                <a:latin typeface="Aptos"/>
                <a:cs typeface="Arial"/>
              </a:rPr>
              <a:t>Caldentey</a:t>
            </a:r>
            <a:r>
              <a:rPr lang="en-US" sz="2600" b="1">
                <a:latin typeface="Aptos"/>
                <a:cs typeface="Arial"/>
              </a:rPr>
              <a:t>, Catarina </a:t>
            </a:r>
            <a:r>
              <a:rPr lang="en-US" sz="2600" b="1" err="1">
                <a:latin typeface="Aptos"/>
                <a:cs typeface="Arial"/>
              </a:rPr>
              <a:t>Jancso</a:t>
            </a:r>
            <a:r>
              <a:rPr lang="en-US" sz="2600" b="1">
                <a:latin typeface="Aptos"/>
                <a:cs typeface="Arial"/>
              </a:rPr>
              <a:t>, Enzo Aguirre,</a:t>
            </a:r>
            <a:endParaRPr lang="en-US" sz="2600" b="1">
              <a:latin typeface="Aptos" panose="020B0004020202020204" pitchFamily="34" charset="0"/>
              <a:cs typeface="Arial" panose="020B0604020202020204" pitchFamily="34" charset="0"/>
            </a:endParaRPr>
          </a:p>
          <a:p>
            <a:r>
              <a:rPr lang="en-US" sz="2600" b="1">
                <a:latin typeface="Aptos"/>
                <a:cs typeface="Arial"/>
              </a:rPr>
              <a:t>                               Jose Junco, Javier Echevarria, Victor Weller</a:t>
            </a:r>
            <a:endParaRPr lang="en-US" sz="2600" b="1">
              <a:latin typeface="Aptos" panose="020B0004020202020204" pitchFamily="34" charset="0"/>
              <a:cs typeface="Arial" panose="020B0604020202020204" pitchFamily="34" charset="0"/>
            </a:endParaRPr>
          </a:p>
          <a:p>
            <a:r>
              <a:rPr lang="en-US" sz="2600" b="1">
                <a:latin typeface="Aptos"/>
                <a:cs typeface="Arial"/>
              </a:rPr>
              <a:t>Faculty Advisor: Chun-Li Chang</a:t>
            </a:r>
            <a:endParaRPr lang="en-US" sz="2600" b="1">
              <a:latin typeface="Aptos" panose="020B0004020202020204" pitchFamily="34" charset="0"/>
              <a:cs typeface="Arial" panose="020B0604020202020204" pitchFamily="34" charset="0"/>
            </a:endParaRPr>
          </a:p>
        </p:txBody>
      </p:sp>
      <p:sp>
        <p:nvSpPr>
          <p:cNvPr id="5" name="Rectangle 180">
            <a:extLst>
              <a:ext uri="{FF2B5EF4-FFF2-40B4-BE49-F238E27FC236}">
                <a16:creationId xmlns:a16="http://schemas.microsoft.com/office/drawing/2014/main" id="{06B90870-A3CC-42E2-8A57-F1594938105B}"/>
              </a:ext>
            </a:extLst>
          </p:cNvPr>
          <p:cNvSpPr>
            <a:spLocks noChangeArrowheads="1"/>
          </p:cNvSpPr>
          <p:nvPr/>
        </p:nvSpPr>
        <p:spPr bwMode="auto">
          <a:xfrm>
            <a:off x="674880" y="5964377"/>
            <a:ext cx="6668997" cy="6421510"/>
          </a:xfrm>
          <a:prstGeom prst="rect">
            <a:avLst/>
          </a:prstGeom>
          <a:noFill/>
          <a:ln w="38100">
            <a:solidFill>
              <a:srgbClr val="CFB991"/>
            </a:solidFill>
            <a:miter lim="800000"/>
            <a:headEnd/>
            <a:tailEnd/>
          </a:ln>
          <a:effectLst/>
        </p:spPr>
        <p:txBody>
          <a:bodyPr wrap="none" anchor="ctr"/>
          <a:lstStyle/>
          <a:p>
            <a:pPr>
              <a:defRPr/>
            </a:pPr>
            <a:endParaRPr lang="en-US" sz="1203"/>
          </a:p>
        </p:txBody>
      </p:sp>
      <p:sp>
        <p:nvSpPr>
          <p:cNvPr id="6" name="Rectangle 5">
            <a:extLst>
              <a:ext uri="{FF2B5EF4-FFF2-40B4-BE49-F238E27FC236}">
                <a16:creationId xmlns:a16="http://schemas.microsoft.com/office/drawing/2014/main" id="{876B6857-2352-4E7B-9A94-ECF554612CEA}"/>
              </a:ext>
            </a:extLst>
          </p:cNvPr>
          <p:cNvSpPr/>
          <p:nvPr/>
        </p:nvSpPr>
        <p:spPr>
          <a:xfrm>
            <a:off x="617505" y="5937984"/>
            <a:ext cx="6697684" cy="670741"/>
          </a:xfrm>
          <a:prstGeom prst="rect">
            <a:avLst/>
          </a:pr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3">
              <a:solidFill>
                <a:schemeClr val="tx1"/>
              </a:solidFill>
            </a:endParaRPr>
          </a:p>
        </p:txBody>
      </p:sp>
      <p:sp>
        <p:nvSpPr>
          <p:cNvPr id="7" name="TextBox 6">
            <a:extLst>
              <a:ext uri="{FF2B5EF4-FFF2-40B4-BE49-F238E27FC236}">
                <a16:creationId xmlns:a16="http://schemas.microsoft.com/office/drawing/2014/main" id="{79181464-D4F4-4482-B8B6-080958039604}"/>
              </a:ext>
            </a:extLst>
          </p:cNvPr>
          <p:cNvSpPr txBox="1"/>
          <p:nvPr/>
        </p:nvSpPr>
        <p:spPr>
          <a:xfrm>
            <a:off x="784593" y="5968746"/>
            <a:ext cx="6363509" cy="644472"/>
          </a:xfrm>
          <a:prstGeom prst="rect">
            <a:avLst/>
          </a:prstGeom>
          <a:noFill/>
        </p:spPr>
        <p:txBody>
          <a:bodyPr wrap="square" lIns="91440" tIns="45720" rIns="91440" bIns="45720" rtlCol="0" anchor="t">
            <a:spAutoFit/>
          </a:bodyPr>
          <a:lstStyle/>
          <a:p>
            <a:r>
              <a:rPr lang="en-US" sz="3600" b="1">
                <a:latin typeface="Aptos"/>
                <a:cs typeface="Arial"/>
              </a:rPr>
              <a:t>Introduction</a:t>
            </a:r>
            <a:endParaRPr lang="en-US" sz="3600" b="1">
              <a:latin typeface="Aptos" panose="020B0004020202020204" pitchFamily="34" charset="0"/>
              <a:cs typeface="Arial" panose="020B0604020202020204" pitchFamily="34" charset="0"/>
            </a:endParaRPr>
          </a:p>
        </p:txBody>
      </p:sp>
      <p:sp>
        <p:nvSpPr>
          <p:cNvPr id="9" name="Rectangle 182">
            <a:extLst>
              <a:ext uri="{FF2B5EF4-FFF2-40B4-BE49-F238E27FC236}">
                <a16:creationId xmlns:a16="http://schemas.microsoft.com/office/drawing/2014/main" id="{A13A79F6-5B8F-40F0-80A9-59958485C5C4}"/>
              </a:ext>
            </a:extLst>
          </p:cNvPr>
          <p:cNvSpPr>
            <a:spLocks noChangeArrowheads="1"/>
          </p:cNvSpPr>
          <p:nvPr/>
        </p:nvSpPr>
        <p:spPr bwMode="auto">
          <a:xfrm>
            <a:off x="646192" y="12972492"/>
            <a:ext cx="6668997" cy="13265172"/>
          </a:xfrm>
          <a:prstGeom prst="rect">
            <a:avLst/>
          </a:prstGeom>
          <a:noFill/>
          <a:ln w="38100">
            <a:solidFill>
              <a:srgbClr val="CFB991"/>
            </a:solidFill>
            <a:miter lim="800000"/>
            <a:headEnd/>
            <a:tailEnd/>
          </a:ln>
          <a:effectLst/>
        </p:spPr>
        <p:txBody>
          <a:bodyPr wrap="none" anchor="ctr"/>
          <a:lstStyle/>
          <a:p>
            <a:pPr marL="228415" indent="-228415">
              <a:lnSpc>
                <a:spcPct val="80000"/>
              </a:lnSpc>
              <a:spcBef>
                <a:spcPct val="20000"/>
              </a:spcBef>
              <a:buFontTx/>
              <a:buChar char="•"/>
              <a:defRPr/>
            </a:pPr>
            <a:endParaRPr lang="en-US" sz="1203">
              <a:latin typeface="Comic Sans MS" pitchFamily="66" charset="0"/>
            </a:endParaRPr>
          </a:p>
        </p:txBody>
      </p:sp>
      <p:sp>
        <p:nvSpPr>
          <p:cNvPr id="10" name="Rectangle 9">
            <a:extLst>
              <a:ext uri="{FF2B5EF4-FFF2-40B4-BE49-F238E27FC236}">
                <a16:creationId xmlns:a16="http://schemas.microsoft.com/office/drawing/2014/main" id="{1F4214E1-3DFC-40B0-8C66-E0E5E16E9DCC}"/>
              </a:ext>
            </a:extLst>
          </p:cNvPr>
          <p:cNvSpPr/>
          <p:nvPr/>
        </p:nvSpPr>
        <p:spPr>
          <a:xfrm>
            <a:off x="640450" y="12599722"/>
            <a:ext cx="6697684" cy="728090"/>
          </a:xfrm>
          <a:prstGeom prst="rect">
            <a:avLst/>
          </a:pr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3">
              <a:solidFill>
                <a:schemeClr val="tx1"/>
              </a:solidFill>
            </a:endParaRPr>
          </a:p>
        </p:txBody>
      </p:sp>
      <p:sp>
        <p:nvSpPr>
          <p:cNvPr id="11" name="TextBox 10">
            <a:extLst>
              <a:ext uri="{FF2B5EF4-FFF2-40B4-BE49-F238E27FC236}">
                <a16:creationId xmlns:a16="http://schemas.microsoft.com/office/drawing/2014/main" id="{23A0B409-CB82-4ED3-A263-4FFBCCB40A62}"/>
              </a:ext>
            </a:extLst>
          </p:cNvPr>
          <p:cNvSpPr txBox="1"/>
          <p:nvPr/>
        </p:nvSpPr>
        <p:spPr>
          <a:xfrm>
            <a:off x="778849" y="12657071"/>
            <a:ext cx="6363509" cy="644472"/>
          </a:xfrm>
          <a:prstGeom prst="rect">
            <a:avLst/>
          </a:prstGeom>
          <a:noFill/>
        </p:spPr>
        <p:txBody>
          <a:bodyPr wrap="square" lIns="91440" tIns="45720" rIns="91440" bIns="45720" rtlCol="0" anchor="t">
            <a:spAutoFit/>
          </a:bodyPr>
          <a:lstStyle/>
          <a:p>
            <a:r>
              <a:rPr lang="en-US" sz="3600" b="1">
                <a:latin typeface="Aptos"/>
                <a:cs typeface="Arial"/>
              </a:rPr>
              <a:t>Engineering Depth</a:t>
            </a:r>
            <a:endParaRPr lang="en-US" sz="3600" b="1">
              <a:latin typeface="Aptos" panose="020B0004020202020204" pitchFamily="34" charset="0"/>
              <a:cs typeface="Arial" panose="020B0604020202020204" pitchFamily="34" charset="0"/>
            </a:endParaRPr>
          </a:p>
        </p:txBody>
      </p:sp>
      <p:sp>
        <p:nvSpPr>
          <p:cNvPr id="12" name="Rectangle 182">
            <a:extLst>
              <a:ext uri="{FF2B5EF4-FFF2-40B4-BE49-F238E27FC236}">
                <a16:creationId xmlns:a16="http://schemas.microsoft.com/office/drawing/2014/main" id="{0878D389-1183-45A7-A852-BF97D8D164BF}"/>
              </a:ext>
            </a:extLst>
          </p:cNvPr>
          <p:cNvSpPr>
            <a:spLocks noChangeArrowheads="1"/>
          </p:cNvSpPr>
          <p:nvPr/>
        </p:nvSpPr>
        <p:spPr bwMode="auto">
          <a:xfrm>
            <a:off x="7622599" y="5937984"/>
            <a:ext cx="6697684" cy="20299680"/>
          </a:xfrm>
          <a:prstGeom prst="rect">
            <a:avLst/>
          </a:prstGeom>
          <a:noFill/>
          <a:ln w="38100">
            <a:solidFill>
              <a:srgbClr val="CFB991"/>
            </a:solidFill>
            <a:miter lim="800000"/>
            <a:headEnd/>
            <a:tailEnd/>
          </a:ln>
          <a:effectLst/>
        </p:spPr>
        <p:txBody>
          <a:bodyPr wrap="none" lIns="91440" tIns="45720" rIns="91440" bIns="45720" anchor="ctr"/>
          <a:lstStyle/>
          <a:p>
            <a:pPr marL="228415" indent="-228415">
              <a:lnSpc>
                <a:spcPct val="80000"/>
              </a:lnSpc>
              <a:spcBef>
                <a:spcPct val="20000"/>
              </a:spcBef>
              <a:buFontTx/>
              <a:buChar char="•"/>
              <a:defRPr/>
            </a:pPr>
            <a:endParaRPr lang="en-US" sz="1203">
              <a:latin typeface="Comic Sans MS" pitchFamily="66" charset="0"/>
            </a:endParaRPr>
          </a:p>
          <a:p>
            <a:pPr marL="227965" indent="-227965">
              <a:lnSpc>
                <a:spcPct val="80000"/>
              </a:lnSpc>
              <a:spcBef>
                <a:spcPct val="20000"/>
              </a:spcBef>
              <a:buFontTx/>
              <a:buChar char="•"/>
              <a:defRPr/>
            </a:pPr>
            <a:endParaRPr lang="en-US" sz="1200">
              <a:latin typeface="Comic Sans MS" pitchFamily="66" charset="0"/>
            </a:endParaRPr>
          </a:p>
        </p:txBody>
      </p:sp>
      <p:sp>
        <p:nvSpPr>
          <p:cNvPr id="13" name="Rectangle 12">
            <a:extLst>
              <a:ext uri="{FF2B5EF4-FFF2-40B4-BE49-F238E27FC236}">
                <a16:creationId xmlns:a16="http://schemas.microsoft.com/office/drawing/2014/main" id="{46915748-0C50-4898-865D-712E31099B36}"/>
              </a:ext>
            </a:extLst>
          </p:cNvPr>
          <p:cNvSpPr/>
          <p:nvPr/>
        </p:nvSpPr>
        <p:spPr>
          <a:xfrm>
            <a:off x="7622599" y="5937985"/>
            <a:ext cx="6697684" cy="670741"/>
          </a:xfrm>
          <a:prstGeom prst="rect">
            <a:avLst/>
          </a:pr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3">
              <a:solidFill>
                <a:schemeClr val="tx1"/>
              </a:solidFill>
            </a:endParaRPr>
          </a:p>
        </p:txBody>
      </p:sp>
      <p:sp>
        <p:nvSpPr>
          <p:cNvPr id="14" name="TextBox 13">
            <a:extLst>
              <a:ext uri="{FF2B5EF4-FFF2-40B4-BE49-F238E27FC236}">
                <a16:creationId xmlns:a16="http://schemas.microsoft.com/office/drawing/2014/main" id="{59C2BADC-D0E0-416B-83A6-EDA34D63F25A}"/>
              </a:ext>
            </a:extLst>
          </p:cNvPr>
          <p:cNvSpPr txBox="1"/>
          <p:nvPr/>
        </p:nvSpPr>
        <p:spPr>
          <a:xfrm>
            <a:off x="7789687" y="5973584"/>
            <a:ext cx="6363509" cy="644472"/>
          </a:xfrm>
          <a:prstGeom prst="rect">
            <a:avLst/>
          </a:prstGeom>
          <a:noFill/>
        </p:spPr>
        <p:txBody>
          <a:bodyPr wrap="square" lIns="91440" tIns="45720" rIns="91440" bIns="45720" rtlCol="0" anchor="t">
            <a:spAutoFit/>
          </a:bodyPr>
          <a:lstStyle/>
          <a:p>
            <a:r>
              <a:rPr lang="en-US" sz="3600" b="1">
                <a:latin typeface="Aptos"/>
                <a:cs typeface="Arial"/>
              </a:rPr>
              <a:t>Prototype &amp; Results</a:t>
            </a:r>
            <a:endParaRPr lang="en-US" sz="3600" b="1">
              <a:latin typeface="Aptos" panose="020B0004020202020204" pitchFamily="34" charset="0"/>
              <a:cs typeface="Arial" panose="020B0604020202020204" pitchFamily="34" charset="0"/>
            </a:endParaRPr>
          </a:p>
        </p:txBody>
      </p:sp>
      <p:sp>
        <p:nvSpPr>
          <p:cNvPr id="16" name="Rectangle 183">
            <a:extLst>
              <a:ext uri="{FF2B5EF4-FFF2-40B4-BE49-F238E27FC236}">
                <a16:creationId xmlns:a16="http://schemas.microsoft.com/office/drawing/2014/main" id="{8FC666B6-A950-4249-8E39-B391EA640211}"/>
              </a:ext>
            </a:extLst>
          </p:cNvPr>
          <p:cNvSpPr>
            <a:spLocks noChangeArrowheads="1"/>
          </p:cNvSpPr>
          <p:nvPr/>
        </p:nvSpPr>
        <p:spPr bwMode="auto">
          <a:xfrm>
            <a:off x="14627690" y="5937986"/>
            <a:ext cx="6697685" cy="15544800"/>
          </a:xfrm>
          <a:prstGeom prst="rect">
            <a:avLst/>
          </a:prstGeom>
          <a:noFill/>
          <a:ln w="38100">
            <a:solidFill>
              <a:srgbClr val="CFB991"/>
            </a:solidFill>
            <a:miter lim="800000"/>
            <a:headEnd/>
            <a:tailEnd/>
          </a:ln>
          <a:effectLst/>
        </p:spPr>
        <p:txBody>
          <a:bodyPr wrap="none" anchor="ctr"/>
          <a:lstStyle/>
          <a:p>
            <a:pPr>
              <a:defRPr/>
            </a:pPr>
            <a:endParaRPr lang="en-US" sz="1203"/>
          </a:p>
        </p:txBody>
      </p:sp>
      <p:sp>
        <p:nvSpPr>
          <p:cNvPr id="17" name="Rectangle 185">
            <a:extLst>
              <a:ext uri="{FF2B5EF4-FFF2-40B4-BE49-F238E27FC236}">
                <a16:creationId xmlns:a16="http://schemas.microsoft.com/office/drawing/2014/main" id="{B9082A9C-F49C-433F-A7D6-86A7DF35CA1E}"/>
              </a:ext>
            </a:extLst>
          </p:cNvPr>
          <p:cNvSpPr>
            <a:spLocks noChangeArrowheads="1"/>
          </p:cNvSpPr>
          <p:nvPr/>
        </p:nvSpPr>
        <p:spPr bwMode="auto">
          <a:xfrm>
            <a:off x="14627689" y="21665664"/>
            <a:ext cx="6697684" cy="4572000"/>
          </a:xfrm>
          <a:prstGeom prst="rect">
            <a:avLst/>
          </a:prstGeom>
          <a:noFill/>
          <a:ln w="38100">
            <a:solidFill>
              <a:srgbClr val="CFB991"/>
            </a:solidFill>
            <a:miter lim="800000"/>
            <a:headEnd/>
            <a:tailEnd/>
          </a:ln>
          <a:effectLst/>
        </p:spPr>
        <p:txBody>
          <a:bodyPr wrap="none" anchor="ctr"/>
          <a:lstStyle/>
          <a:p>
            <a:pPr>
              <a:defRPr/>
            </a:pPr>
            <a:endParaRPr lang="en-US" sz="1203"/>
          </a:p>
        </p:txBody>
      </p:sp>
      <p:sp>
        <p:nvSpPr>
          <p:cNvPr id="18" name="Rectangle 17">
            <a:extLst>
              <a:ext uri="{FF2B5EF4-FFF2-40B4-BE49-F238E27FC236}">
                <a16:creationId xmlns:a16="http://schemas.microsoft.com/office/drawing/2014/main" id="{C5484837-E3A0-44F5-AD36-AF511C574815}"/>
              </a:ext>
            </a:extLst>
          </p:cNvPr>
          <p:cNvSpPr/>
          <p:nvPr/>
        </p:nvSpPr>
        <p:spPr>
          <a:xfrm>
            <a:off x="14627689" y="5931850"/>
            <a:ext cx="6697684" cy="670741"/>
          </a:xfrm>
          <a:prstGeom prst="rect">
            <a:avLst/>
          </a:pr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3">
              <a:solidFill>
                <a:schemeClr val="tx1"/>
              </a:solidFill>
            </a:endParaRPr>
          </a:p>
        </p:txBody>
      </p:sp>
      <p:sp>
        <p:nvSpPr>
          <p:cNvPr id="19" name="Rectangle 18">
            <a:extLst>
              <a:ext uri="{FF2B5EF4-FFF2-40B4-BE49-F238E27FC236}">
                <a16:creationId xmlns:a16="http://schemas.microsoft.com/office/drawing/2014/main" id="{A8C97E10-76EC-45BE-8352-EE7C14B8DD6D}"/>
              </a:ext>
            </a:extLst>
          </p:cNvPr>
          <p:cNvSpPr/>
          <p:nvPr/>
        </p:nvSpPr>
        <p:spPr>
          <a:xfrm>
            <a:off x="14633429" y="21665664"/>
            <a:ext cx="6697684" cy="670741"/>
          </a:xfrm>
          <a:prstGeom prst="rect">
            <a:avLst/>
          </a:pr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3">
              <a:solidFill>
                <a:schemeClr val="tx1"/>
              </a:solidFill>
            </a:endParaRPr>
          </a:p>
        </p:txBody>
      </p:sp>
      <p:sp>
        <p:nvSpPr>
          <p:cNvPr id="20" name="TextBox 19">
            <a:extLst>
              <a:ext uri="{FF2B5EF4-FFF2-40B4-BE49-F238E27FC236}">
                <a16:creationId xmlns:a16="http://schemas.microsoft.com/office/drawing/2014/main" id="{93813B40-944C-4D55-881F-A505FCE9AF60}"/>
              </a:ext>
            </a:extLst>
          </p:cNvPr>
          <p:cNvSpPr txBox="1"/>
          <p:nvPr/>
        </p:nvSpPr>
        <p:spPr>
          <a:xfrm>
            <a:off x="14766952" y="5944893"/>
            <a:ext cx="6363509" cy="644472"/>
          </a:xfrm>
          <a:prstGeom prst="rect">
            <a:avLst/>
          </a:prstGeom>
          <a:noFill/>
        </p:spPr>
        <p:txBody>
          <a:bodyPr wrap="square" lIns="91440" tIns="45720" rIns="91440" bIns="45720" rtlCol="0" anchor="t">
            <a:spAutoFit/>
          </a:bodyPr>
          <a:lstStyle/>
          <a:p>
            <a:r>
              <a:rPr lang="en-US" sz="3600" b="1">
                <a:latin typeface="Aptos"/>
                <a:cs typeface="Arial"/>
              </a:rPr>
              <a:t>Conclusion</a:t>
            </a:r>
            <a:endParaRPr lang="en-US" sz="3600" b="1">
              <a:latin typeface="Aptos" panose="020B00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656F3770-F531-4842-B787-B2C31B227A2F}"/>
              </a:ext>
            </a:extLst>
          </p:cNvPr>
          <p:cNvSpPr txBox="1"/>
          <p:nvPr/>
        </p:nvSpPr>
        <p:spPr>
          <a:xfrm>
            <a:off x="14772692" y="21669473"/>
            <a:ext cx="6363509" cy="644472"/>
          </a:xfrm>
          <a:prstGeom prst="rect">
            <a:avLst/>
          </a:prstGeom>
          <a:noFill/>
        </p:spPr>
        <p:txBody>
          <a:bodyPr wrap="square" lIns="91440" tIns="45720" rIns="91440" bIns="45720" rtlCol="0" anchor="t">
            <a:spAutoFit/>
          </a:bodyPr>
          <a:lstStyle/>
          <a:p>
            <a:r>
              <a:rPr lang="en-US" sz="3600" b="1">
                <a:latin typeface="Aptos"/>
                <a:cs typeface="Arial"/>
              </a:rPr>
              <a:t>Team Picture</a:t>
            </a:r>
            <a:endParaRPr lang="en-US" sz="3600" b="1">
              <a:latin typeface="Aptos" panose="020B00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0520003F-0FC3-439A-86BE-D1CB04780912}"/>
              </a:ext>
            </a:extLst>
          </p:cNvPr>
          <p:cNvSpPr txBox="1"/>
          <p:nvPr/>
        </p:nvSpPr>
        <p:spPr>
          <a:xfrm>
            <a:off x="629588" y="3549158"/>
            <a:ext cx="20355115" cy="3046988"/>
          </a:xfrm>
          <a:prstGeom prst="rect">
            <a:avLst/>
          </a:prstGeom>
          <a:noFill/>
        </p:spPr>
        <p:txBody>
          <a:bodyPr wrap="square" lIns="91440" tIns="45720" rIns="91440" bIns="45720" rtlCol="0" anchor="t">
            <a:spAutoFit/>
          </a:bodyPr>
          <a:lstStyle/>
          <a:p>
            <a:r>
              <a:rPr lang="en-US" sz="2400" b="1">
                <a:latin typeface="Arial"/>
                <a:cs typeface="Arial"/>
              </a:rPr>
              <a:t>Abstract</a:t>
            </a:r>
          </a:p>
          <a:p>
            <a:r>
              <a:rPr lang="en-US" sz="2400">
                <a:latin typeface="Arial"/>
                <a:cs typeface="Arial"/>
              </a:rPr>
              <a:t>Elbow injuries are prevalent among athletes and repetitive-motion users, yet rehab stays inefficient due to limited rehabilitation methods that can cause inconsistent loading, improper execution, increased reinjury risk, delayed recovery, reduced adherence, and higher costs for patients. Therefore, there is a need for a rehabilitation device that objectively measures elbow rehabilitation progress while delivering personalized, adjustable resistance for better outcomes and accessibility. This yielded a wearable device that could adjust to different arm length and sizes that through a motor, reel system, and an interface could provide constant forces for tennis elbow patients resulting in a more effective recovery journey. </a:t>
            </a:r>
          </a:p>
          <a:p>
            <a:endParaRPr lang="en-US" sz="2400">
              <a:latin typeface="Arial"/>
              <a:cs typeface="Arial"/>
            </a:endParaRPr>
          </a:p>
          <a:p>
            <a:endParaRPr lang="en-US" sz="2400">
              <a:latin typeface="Arial"/>
              <a:cs typeface="Arial"/>
            </a:endParaRPr>
          </a:p>
        </p:txBody>
      </p:sp>
      <p:sp>
        <p:nvSpPr>
          <p:cNvPr id="8" name="Rectangle 7">
            <a:extLst>
              <a:ext uri="{FF2B5EF4-FFF2-40B4-BE49-F238E27FC236}">
                <a16:creationId xmlns:a16="http://schemas.microsoft.com/office/drawing/2014/main" id="{5E5DB511-E54B-B1A3-92A3-B8C5898F356E}"/>
              </a:ext>
            </a:extLst>
          </p:cNvPr>
          <p:cNvSpPr/>
          <p:nvPr/>
        </p:nvSpPr>
        <p:spPr>
          <a:xfrm>
            <a:off x="629588" y="26449560"/>
            <a:ext cx="20686424" cy="5951186"/>
          </a:xfrm>
          <a:prstGeom prst="rect">
            <a:avLst/>
          </a:prstGeom>
          <a:solidFill>
            <a:srgbClr val="CFB9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52"/>
          </a:p>
        </p:txBody>
      </p:sp>
      <p:sp>
        <p:nvSpPr>
          <p:cNvPr id="32" name="TextBox 31">
            <a:extLst>
              <a:ext uri="{FF2B5EF4-FFF2-40B4-BE49-F238E27FC236}">
                <a16:creationId xmlns:a16="http://schemas.microsoft.com/office/drawing/2014/main" id="{6E849E77-0A7A-34C3-7052-14AB9E5C3D20}"/>
              </a:ext>
            </a:extLst>
          </p:cNvPr>
          <p:cNvSpPr txBox="1"/>
          <p:nvPr/>
        </p:nvSpPr>
        <p:spPr>
          <a:xfrm>
            <a:off x="1589361" y="27499414"/>
            <a:ext cx="13185197" cy="3970318"/>
          </a:xfrm>
          <a:prstGeom prst="rect">
            <a:avLst/>
          </a:prstGeom>
          <a:noFill/>
        </p:spPr>
        <p:txBody>
          <a:bodyPr wrap="square" lIns="91440" tIns="45720" rIns="91440" bIns="45720" rtlCol="0" anchor="t">
            <a:spAutoFit/>
          </a:bodyPr>
          <a:lstStyle/>
          <a:p>
            <a:pPr algn="ctr"/>
            <a:r>
              <a:rPr lang="en-US" sz="8400" b="1">
                <a:latin typeface="Aptos"/>
                <a:cs typeface="Arial"/>
              </a:rPr>
              <a:t>Wearable Healing Device, Smart Support and Fast Recovery </a:t>
            </a:r>
            <a:endParaRPr lang="en-US" sz="8400" b="1">
              <a:latin typeface="Aptos" panose="020B0004020202020204" pitchFamily="34" charset="0"/>
              <a:cs typeface="Arial" panose="020B0604020202020204" pitchFamily="34" charset="0"/>
            </a:endParaRPr>
          </a:p>
        </p:txBody>
      </p:sp>
      <p:pic>
        <p:nvPicPr>
          <p:cNvPr id="3" name="Picture 2" descr="A black and white logo&#10;&#10;AI-generated content may be incorrect.">
            <a:extLst>
              <a:ext uri="{FF2B5EF4-FFF2-40B4-BE49-F238E27FC236}">
                <a16:creationId xmlns:a16="http://schemas.microsoft.com/office/drawing/2014/main" id="{7BDDF19C-58F9-A246-29EF-2433254DB9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463" y="207965"/>
            <a:ext cx="3946157" cy="2836300"/>
          </a:xfrm>
          <a:prstGeom prst="rect">
            <a:avLst/>
          </a:prstGeom>
        </p:spPr>
      </p:pic>
      <p:pic>
        <p:nvPicPr>
          <p:cNvPr id="2" name="Picture 1" descr="A logo for a medical rehabilitation company&#10;&#10;AI-generated content may be incorrect.">
            <a:extLst>
              <a:ext uri="{FF2B5EF4-FFF2-40B4-BE49-F238E27FC236}">
                <a16:creationId xmlns:a16="http://schemas.microsoft.com/office/drawing/2014/main" id="{9CA4FA89-7E55-69B3-E346-80F801B03840}"/>
              </a:ext>
            </a:extLst>
          </p:cNvPr>
          <p:cNvPicPr>
            <a:picLocks noChangeAspect="1"/>
          </p:cNvPicPr>
          <p:nvPr/>
        </p:nvPicPr>
        <p:blipFill>
          <a:blip r:embed="rId3"/>
          <a:stretch>
            <a:fillRect/>
          </a:stretch>
        </p:blipFill>
        <p:spPr>
          <a:xfrm>
            <a:off x="17860350" y="83898"/>
            <a:ext cx="3274574" cy="3043753"/>
          </a:xfrm>
          <a:prstGeom prst="rect">
            <a:avLst/>
          </a:prstGeom>
        </p:spPr>
      </p:pic>
      <p:pic>
        <p:nvPicPr>
          <p:cNvPr id="15" name="Picture 14" descr="A diagram of the muscles of the arm&#10;&#10;AI-generated content may be incorrect.">
            <a:extLst>
              <a:ext uri="{FF2B5EF4-FFF2-40B4-BE49-F238E27FC236}">
                <a16:creationId xmlns:a16="http://schemas.microsoft.com/office/drawing/2014/main" id="{E0AE22E5-5E18-ECEA-048C-C9549E8C001C}"/>
              </a:ext>
            </a:extLst>
          </p:cNvPr>
          <p:cNvPicPr>
            <a:picLocks noChangeAspect="1"/>
          </p:cNvPicPr>
          <p:nvPr/>
        </p:nvPicPr>
        <p:blipFill>
          <a:blip r:embed="rId4"/>
          <a:stretch>
            <a:fillRect/>
          </a:stretch>
        </p:blipFill>
        <p:spPr>
          <a:xfrm>
            <a:off x="1901414" y="9767640"/>
            <a:ext cx="4181737" cy="2228717"/>
          </a:xfrm>
          <a:prstGeom prst="rect">
            <a:avLst/>
          </a:prstGeom>
        </p:spPr>
      </p:pic>
      <p:sp>
        <p:nvSpPr>
          <p:cNvPr id="25" name="TextBox 24">
            <a:extLst>
              <a:ext uri="{FF2B5EF4-FFF2-40B4-BE49-F238E27FC236}">
                <a16:creationId xmlns:a16="http://schemas.microsoft.com/office/drawing/2014/main" id="{0532B56F-F452-6CFB-E118-ECCE0963B490}"/>
              </a:ext>
            </a:extLst>
          </p:cNvPr>
          <p:cNvSpPr txBox="1"/>
          <p:nvPr/>
        </p:nvSpPr>
        <p:spPr>
          <a:xfrm>
            <a:off x="1060006" y="6731904"/>
            <a:ext cx="6156959"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latin typeface="Arial"/>
                <a:cs typeface="Arial"/>
              </a:rPr>
              <a:t>1–3% of the general population develops tennis elbow at some point</a:t>
            </a:r>
            <a:endParaRPr lang="en-US"/>
          </a:p>
          <a:p>
            <a:pPr marL="285750" indent="-285750">
              <a:buFont typeface="Arial"/>
              <a:buChar char="•"/>
            </a:pPr>
            <a:r>
              <a:rPr lang="en-US" sz="2400">
                <a:latin typeface="Arial"/>
                <a:cs typeface="Arial"/>
              </a:rPr>
              <a:t>Tennis elbow caused by repetitive movements and overextension like typing, painting, golf, lifting, etc.</a:t>
            </a:r>
          </a:p>
          <a:p>
            <a:pPr marL="285750" indent="-285750">
              <a:buFont typeface="Arial"/>
              <a:buChar char="•"/>
            </a:pPr>
            <a:r>
              <a:rPr lang="en-US" sz="2400">
                <a:latin typeface="Arial"/>
                <a:cs typeface="Arial"/>
              </a:rPr>
              <a:t>Muscles and tendons related to injury </a:t>
            </a:r>
            <a:r>
              <a:rPr lang="en-US" sz="2400" err="1">
                <a:latin typeface="Arial"/>
                <a:cs typeface="Arial"/>
              </a:rPr>
              <a:t>origina</a:t>
            </a:r>
            <a:r>
              <a:rPr lang="en-US" sz="2400">
                <a:latin typeface="Arial"/>
                <a:cs typeface="Arial"/>
              </a:rPr>
              <a:t>te from the fingers.</a:t>
            </a:r>
          </a:p>
        </p:txBody>
      </p:sp>
      <p:pic>
        <p:nvPicPr>
          <p:cNvPr id="22" name="Picture 21" descr="A person using a robotic arm&#10;&#10;AI-generated content may be incorrect.">
            <a:extLst>
              <a:ext uri="{FF2B5EF4-FFF2-40B4-BE49-F238E27FC236}">
                <a16:creationId xmlns:a16="http://schemas.microsoft.com/office/drawing/2014/main" id="{9CEEAE1B-BA27-E7FA-A016-846ED449F576}"/>
              </a:ext>
            </a:extLst>
          </p:cNvPr>
          <p:cNvPicPr>
            <a:picLocks noChangeAspect="1"/>
          </p:cNvPicPr>
          <p:nvPr/>
        </p:nvPicPr>
        <p:blipFill>
          <a:blip r:embed="rId5"/>
          <a:srcRect l="7748" t="14462" r="8270" b="9677"/>
          <a:stretch>
            <a:fillRect/>
          </a:stretch>
        </p:blipFill>
        <p:spPr>
          <a:xfrm>
            <a:off x="15904313" y="26608992"/>
            <a:ext cx="4627851" cy="5622089"/>
          </a:xfrm>
          <a:prstGeom prst="rect">
            <a:avLst/>
          </a:prstGeom>
        </p:spPr>
      </p:pic>
      <p:sp>
        <p:nvSpPr>
          <p:cNvPr id="24" name="TextBox 23">
            <a:extLst>
              <a:ext uri="{FF2B5EF4-FFF2-40B4-BE49-F238E27FC236}">
                <a16:creationId xmlns:a16="http://schemas.microsoft.com/office/drawing/2014/main" id="{B1F82A64-4C6E-BBCB-2143-A394F17DE39E}"/>
              </a:ext>
            </a:extLst>
          </p:cNvPr>
          <p:cNvSpPr txBox="1"/>
          <p:nvPr/>
        </p:nvSpPr>
        <p:spPr>
          <a:xfrm>
            <a:off x="772611" y="13413077"/>
            <a:ext cx="6156959"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latin typeface="Arial"/>
                <a:cs typeface="Arial"/>
              </a:rPr>
              <a:t>Requirements</a:t>
            </a:r>
          </a:p>
          <a:p>
            <a:pPr marL="285750" indent="-285750">
              <a:buFont typeface="Arial"/>
              <a:buChar char="•"/>
            </a:pPr>
            <a:r>
              <a:rPr lang="en-US" sz="2400">
                <a:latin typeface="Arial"/>
                <a:ea typeface="Calibri"/>
                <a:cs typeface="Arial"/>
              </a:rPr>
              <a:t>Device capable of doing finger extension and wrist flexions</a:t>
            </a:r>
          </a:p>
          <a:p>
            <a:pPr marL="285750" indent="-285750">
              <a:buFont typeface="Arial"/>
              <a:buChar char="•"/>
            </a:pPr>
            <a:r>
              <a:rPr lang="en-US" sz="2400" err="1">
                <a:latin typeface="Arial"/>
                <a:cs typeface="Arial"/>
              </a:rPr>
              <a:t>Progressi</a:t>
            </a:r>
            <a:r>
              <a:rPr lang="en-US" sz="2400">
                <a:latin typeface="Arial"/>
                <a:cs typeface="Arial"/>
              </a:rPr>
              <a:t>ve Overload based of rehabilitation stage</a:t>
            </a:r>
          </a:p>
          <a:p>
            <a:pPr marL="285750" indent="-285750">
              <a:buFont typeface="Arial"/>
              <a:buChar char="•"/>
            </a:pPr>
            <a:r>
              <a:rPr lang="en-US" sz="2400">
                <a:latin typeface="Arial"/>
                <a:cs typeface="Arial"/>
              </a:rPr>
              <a:t>Range of motion limited to prevent hyperextension</a:t>
            </a:r>
          </a:p>
          <a:p>
            <a:pPr marL="285750" indent="-285750">
              <a:buFont typeface="Arial"/>
              <a:buChar char="•"/>
            </a:pPr>
            <a:r>
              <a:rPr lang="en-US" sz="2400">
                <a:latin typeface="Arial"/>
                <a:cs typeface="Arial"/>
              </a:rPr>
              <a:t>Retail price underneath $1,000</a:t>
            </a:r>
          </a:p>
          <a:p>
            <a:pPr marL="285750" indent="-285750">
              <a:buFont typeface="Arial"/>
              <a:buChar char="•"/>
            </a:pPr>
            <a:r>
              <a:rPr lang="en-US" sz="2400">
                <a:latin typeface="Arial"/>
                <a:cs typeface="Arial"/>
              </a:rPr>
              <a:t>Weight underneath 15lbs</a:t>
            </a:r>
          </a:p>
          <a:p>
            <a:endParaRPr lang="en-US" sz="2400">
              <a:latin typeface="Arial"/>
              <a:cs typeface="Arial"/>
            </a:endParaRPr>
          </a:p>
          <a:p>
            <a:r>
              <a:rPr lang="en-US" sz="2400" b="1" u="sng">
                <a:latin typeface="Arial"/>
                <a:cs typeface="Arial"/>
              </a:rPr>
              <a:t>FEA Bicep connector Pin</a:t>
            </a:r>
          </a:p>
        </p:txBody>
      </p:sp>
      <p:pic>
        <p:nvPicPr>
          <p:cNvPr id="27" name="Picture 26" descr="A computer screen shot of a blue object&#10;&#10;AI-generated content may be incorrect.">
            <a:extLst>
              <a:ext uri="{FF2B5EF4-FFF2-40B4-BE49-F238E27FC236}">
                <a16:creationId xmlns:a16="http://schemas.microsoft.com/office/drawing/2014/main" id="{E81C5837-DC09-3DCE-F12D-0CB228B4CF65}"/>
              </a:ext>
            </a:extLst>
          </p:cNvPr>
          <p:cNvPicPr>
            <a:picLocks noChangeAspect="1"/>
          </p:cNvPicPr>
          <p:nvPr/>
        </p:nvPicPr>
        <p:blipFill>
          <a:blip r:embed="rId6"/>
          <a:stretch>
            <a:fillRect/>
          </a:stretch>
        </p:blipFill>
        <p:spPr>
          <a:xfrm>
            <a:off x="891267" y="17578167"/>
            <a:ext cx="6046529" cy="3692913"/>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595C6A88-5A72-3A8C-8473-9B5C7659B95D}"/>
              </a:ext>
            </a:extLst>
          </p:cNvPr>
          <p:cNvPicPr>
            <a:picLocks noChangeAspect="1"/>
          </p:cNvPicPr>
          <p:nvPr/>
        </p:nvPicPr>
        <p:blipFill>
          <a:blip r:embed="rId7"/>
          <a:stretch>
            <a:fillRect/>
          </a:stretch>
        </p:blipFill>
        <p:spPr>
          <a:xfrm>
            <a:off x="9151795" y="16954022"/>
            <a:ext cx="3439237" cy="4933649"/>
          </a:xfrm>
          <a:prstGeom prst="rect">
            <a:avLst/>
          </a:prstGeom>
        </p:spPr>
      </p:pic>
      <p:pic>
        <p:nvPicPr>
          <p:cNvPr id="26" name="Picture 25" descr="A group of people standing in front of a white board&#10;&#10;AI-generated content may be incorrect.">
            <a:extLst>
              <a:ext uri="{FF2B5EF4-FFF2-40B4-BE49-F238E27FC236}">
                <a16:creationId xmlns:a16="http://schemas.microsoft.com/office/drawing/2014/main" id="{AE7CC129-C89D-2367-936D-72B0CF54D750}"/>
              </a:ext>
            </a:extLst>
          </p:cNvPr>
          <p:cNvPicPr>
            <a:picLocks noChangeAspect="1"/>
          </p:cNvPicPr>
          <p:nvPr/>
        </p:nvPicPr>
        <p:blipFill>
          <a:blip r:embed="rId8"/>
          <a:stretch>
            <a:fillRect/>
          </a:stretch>
        </p:blipFill>
        <p:spPr>
          <a:xfrm>
            <a:off x="16235455" y="22501516"/>
            <a:ext cx="3488135" cy="3572640"/>
          </a:xfrm>
          <a:prstGeom prst="rect">
            <a:avLst/>
          </a:prstGeom>
        </p:spPr>
      </p:pic>
      <p:sp>
        <p:nvSpPr>
          <p:cNvPr id="34" name="TextBox 33">
            <a:extLst>
              <a:ext uri="{FF2B5EF4-FFF2-40B4-BE49-F238E27FC236}">
                <a16:creationId xmlns:a16="http://schemas.microsoft.com/office/drawing/2014/main" id="{3C0DE6FB-BB68-2E05-C04A-3A8952470F31}"/>
              </a:ext>
            </a:extLst>
          </p:cNvPr>
          <p:cNvSpPr txBox="1"/>
          <p:nvPr/>
        </p:nvSpPr>
        <p:spPr>
          <a:xfrm>
            <a:off x="772610" y="21487401"/>
            <a:ext cx="61569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latin typeface="Arial"/>
                <a:ea typeface="Calibri"/>
                <a:cs typeface="Arial"/>
              </a:rPr>
              <a:t>Circuit Schematic</a:t>
            </a:r>
            <a:endParaRPr lang="en-US" u="sng">
              <a:ea typeface="Calibri"/>
              <a:cs typeface="Calibri"/>
            </a:endParaRPr>
          </a:p>
        </p:txBody>
      </p:sp>
      <p:pic>
        <p:nvPicPr>
          <p:cNvPr id="30" name="Picture 29" descr="A computer diagram of a circuit board&#10;&#10;AI-generated content may be incorrect.">
            <a:extLst>
              <a:ext uri="{FF2B5EF4-FFF2-40B4-BE49-F238E27FC236}">
                <a16:creationId xmlns:a16="http://schemas.microsoft.com/office/drawing/2014/main" id="{D0FAB7D4-6D76-4290-68FC-5C35C289AFF7}"/>
              </a:ext>
            </a:extLst>
          </p:cNvPr>
          <p:cNvPicPr>
            <a:picLocks noChangeAspect="1"/>
          </p:cNvPicPr>
          <p:nvPr/>
        </p:nvPicPr>
        <p:blipFill>
          <a:blip r:embed="rId9"/>
          <a:stretch>
            <a:fillRect/>
          </a:stretch>
        </p:blipFill>
        <p:spPr>
          <a:xfrm>
            <a:off x="1226478" y="22078410"/>
            <a:ext cx="5466093" cy="3771541"/>
          </a:xfrm>
          <a:prstGeom prst="rect">
            <a:avLst/>
          </a:prstGeom>
        </p:spPr>
      </p:pic>
      <p:sp>
        <p:nvSpPr>
          <p:cNvPr id="31" name="TextBox 32">
            <a:extLst>
              <a:ext uri="{FF2B5EF4-FFF2-40B4-BE49-F238E27FC236}">
                <a16:creationId xmlns:a16="http://schemas.microsoft.com/office/drawing/2014/main" id="{F6A15396-5CEC-7EBD-CFB1-694A14F46CC9}"/>
              </a:ext>
            </a:extLst>
          </p:cNvPr>
          <p:cNvSpPr txBox="1"/>
          <p:nvPr/>
        </p:nvSpPr>
        <p:spPr>
          <a:xfrm>
            <a:off x="7628150" y="6770395"/>
            <a:ext cx="6494353" cy="969496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lvl="0" indent="-285750" algn="l">
              <a:buFont typeface="Arial,Sans-Serif"/>
              <a:buChar char="•"/>
            </a:pPr>
            <a:r>
              <a:rPr lang="en-US" sz="2400">
                <a:solidFill>
                  <a:srgbClr val="000000"/>
                </a:solidFill>
                <a:latin typeface="Arial"/>
                <a:cs typeface="Arial"/>
              </a:rPr>
              <a:t>Connectors</a:t>
            </a:r>
            <a:endParaRPr lang="en-US"/>
          </a:p>
          <a:p>
            <a:pPr marL="742950" lvl="1" indent="-285750">
              <a:buFont typeface="Courier New"/>
              <a:buChar char="o"/>
            </a:pPr>
            <a:r>
              <a:rPr lang="en-US" sz="2400">
                <a:latin typeface="Arial"/>
                <a:ea typeface="Calibri" panose="020F0502020204030204"/>
                <a:cs typeface="Arial"/>
              </a:rPr>
              <a:t>Four attachment points: bicep, forearm, wrist, and reel slider, all following similar geometry.</a:t>
            </a:r>
          </a:p>
          <a:p>
            <a:pPr marL="742950" lvl="1" indent="-285750">
              <a:buFont typeface="Courier New"/>
              <a:buChar char="o"/>
            </a:pPr>
            <a:r>
              <a:rPr lang="en-US" sz="2400">
                <a:latin typeface="Arial"/>
                <a:cs typeface="Arial"/>
              </a:rPr>
              <a:t>Material: PETG 3D printed, </a:t>
            </a:r>
            <a:r>
              <a:rPr lang="en-US" sz="2400" err="1">
                <a:latin typeface="Arial"/>
                <a:cs typeface="Arial"/>
              </a:rPr>
              <a:t>selecte</a:t>
            </a:r>
            <a:r>
              <a:rPr lang="en-US" sz="2400">
                <a:latin typeface="Arial"/>
                <a:cs typeface="Arial"/>
              </a:rPr>
              <a:t>d based on FEA results showing </a:t>
            </a:r>
            <a:r>
              <a:rPr lang="en-US" sz="2400" err="1">
                <a:latin typeface="Arial"/>
                <a:cs typeface="Arial"/>
              </a:rPr>
              <a:t>resitance</a:t>
            </a:r>
            <a:r>
              <a:rPr lang="en-US" sz="2400">
                <a:latin typeface="Arial"/>
                <a:cs typeface="Arial"/>
              </a:rPr>
              <a:t> under cyclic loading.</a:t>
            </a:r>
          </a:p>
          <a:p>
            <a:pPr marL="285750" indent="-285750">
              <a:buFont typeface="Arial,Sans-Serif"/>
              <a:buChar char="•"/>
            </a:pPr>
            <a:r>
              <a:rPr lang="en-US" sz="2400">
                <a:latin typeface="Arial"/>
                <a:cs typeface="Arial"/>
              </a:rPr>
              <a:t>Reeling System</a:t>
            </a:r>
          </a:p>
          <a:p>
            <a:pPr marL="742950" lvl="1" indent="-285750">
              <a:buFont typeface="Courier New"/>
              <a:buChar char="o"/>
            </a:pPr>
            <a:r>
              <a:rPr lang="en-US" sz="2400">
                <a:latin typeface="Arial"/>
                <a:ea typeface="Calibri" panose="020F0502020204030204"/>
                <a:cs typeface="Arial"/>
              </a:rPr>
              <a:t>RMD-L 4015 DC Brushless Motor 0.49N*m.</a:t>
            </a:r>
          </a:p>
          <a:p>
            <a:pPr marL="742950" lvl="1" indent="-285750">
              <a:buFont typeface="Courier New"/>
              <a:buChar char="o"/>
            </a:pPr>
            <a:r>
              <a:rPr lang="en-US" sz="2400">
                <a:latin typeface="Arial"/>
                <a:ea typeface="Calibri" panose="020F0502020204030204"/>
                <a:cs typeface="Arial"/>
              </a:rPr>
              <a:t>Cable guided </a:t>
            </a:r>
            <a:r>
              <a:rPr lang="en-US" sz="2400" err="1">
                <a:latin typeface="Arial"/>
                <a:ea typeface="Calibri" panose="020F0502020204030204"/>
                <a:cs typeface="Arial"/>
              </a:rPr>
              <a:t>throgh</a:t>
            </a:r>
            <a:r>
              <a:rPr lang="en-US" sz="2400">
                <a:latin typeface="Arial"/>
                <a:ea typeface="Calibri" panose="020F0502020204030204"/>
                <a:cs typeface="Arial"/>
              </a:rPr>
              <a:t> spool to deliver controlled tensioned to the fingers.</a:t>
            </a:r>
          </a:p>
          <a:p>
            <a:pPr marL="742950" lvl="1" indent="-285750">
              <a:buFont typeface="Courier New"/>
              <a:buChar char="o"/>
            </a:pPr>
            <a:r>
              <a:rPr lang="en-US" sz="2400">
                <a:latin typeface="Arial"/>
                <a:ea typeface="Calibri" panose="020F0502020204030204"/>
                <a:cs typeface="Arial"/>
              </a:rPr>
              <a:t>Support with slider</a:t>
            </a:r>
          </a:p>
          <a:p>
            <a:pPr marL="742950" lvl="1" indent="-285750">
              <a:buFont typeface="Courier New"/>
              <a:buChar char="o"/>
            </a:pPr>
            <a:r>
              <a:rPr lang="en-US" sz="2400">
                <a:latin typeface="Arial"/>
                <a:ea typeface="Calibri" panose="020F0502020204030204"/>
                <a:cs typeface="Arial"/>
              </a:rPr>
              <a:t>Key connector</a:t>
            </a:r>
          </a:p>
          <a:p>
            <a:pPr marL="742950" lvl="1" indent="-285750">
              <a:buFont typeface="Courier New"/>
              <a:buChar char="o"/>
            </a:pPr>
            <a:r>
              <a:rPr lang="en-US" sz="2400">
                <a:latin typeface="Arial"/>
                <a:ea typeface="Calibri" panose="020F0502020204030204"/>
                <a:cs typeface="Arial"/>
              </a:rPr>
              <a:t>Spool </a:t>
            </a:r>
          </a:p>
          <a:p>
            <a:pPr marL="742950" lvl="1" indent="-285750">
              <a:buFont typeface="Courier New"/>
              <a:buChar char="o"/>
            </a:pPr>
            <a:r>
              <a:rPr lang="en-US" sz="2400">
                <a:latin typeface="Arial"/>
                <a:ea typeface="Calibri" panose="020F0502020204030204"/>
                <a:cs typeface="Arial"/>
              </a:rPr>
              <a:t>Anti </a:t>
            </a:r>
            <a:r>
              <a:rPr lang="en-US" sz="2400" err="1">
                <a:latin typeface="Arial"/>
                <a:ea typeface="Calibri" panose="020F0502020204030204"/>
                <a:cs typeface="Arial"/>
              </a:rPr>
              <a:t>tangli</a:t>
            </a:r>
            <a:r>
              <a:rPr lang="en-US" sz="2400">
                <a:latin typeface="Arial"/>
                <a:ea typeface="Calibri" panose="020F0502020204030204"/>
                <a:cs typeface="Arial"/>
              </a:rPr>
              <a:t>ng guide ensures correct cable path during cycles.</a:t>
            </a:r>
          </a:p>
          <a:p>
            <a:pPr marL="285750" indent="-285750">
              <a:buFont typeface="Arial,Sans-Serif"/>
              <a:buChar char="•"/>
            </a:pPr>
            <a:r>
              <a:rPr lang="en-US" sz="2400">
                <a:latin typeface="Arial"/>
                <a:ea typeface="Calibri" panose="020F0502020204030204"/>
                <a:cs typeface="Arial"/>
              </a:rPr>
              <a:t>Structure</a:t>
            </a:r>
          </a:p>
          <a:p>
            <a:pPr marL="742950" lvl="1" indent="-285750">
              <a:buFont typeface="Courier New"/>
              <a:buChar char="o"/>
            </a:pPr>
            <a:r>
              <a:rPr lang="en-US" sz="2400">
                <a:latin typeface="Arial"/>
                <a:ea typeface="Calibri" panose="020F0502020204030204"/>
                <a:cs typeface="Arial"/>
              </a:rPr>
              <a:t>Connecting aluminum bars linked attachment points, accomodates variable arm lengths for correct fit.</a:t>
            </a:r>
          </a:p>
          <a:p>
            <a:pPr marL="285750" indent="-285750">
              <a:buFont typeface="Arial,Sans-Serif"/>
              <a:buChar char="•"/>
            </a:pPr>
            <a:r>
              <a:rPr lang="en-US" sz="2400">
                <a:latin typeface="Arial"/>
                <a:ea typeface="Calibri" panose="020F0502020204030204"/>
                <a:cs typeface="Arial"/>
              </a:rPr>
              <a:t>Electronics and Control</a:t>
            </a:r>
          </a:p>
          <a:p>
            <a:pPr marL="742950" lvl="1" indent="-285750">
              <a:buFont typeface="Courier New"/>
              <a:buChar char="o"/>
            </a:pPr>
            <a:r>
              <a:rPr lang="en-US" sz="2400">
                <a:latin typeface="Arial"/>
                <a:ea typeface="Calibri" panose="020F0502020204030204"/>
                <a:cs typeface="Arial"/>
              </a:rPr>
              <a:t>ESP32 microcontoller manages motor commands from app</a:t>
            </a:r>
          </a:p>
          <a:p>
            <a:pPr marL="742950" lvl="1" indent="-285750">
              <a:buFont typeface="Courier New"/>
              <a:buChar char="o"/>
            </a:pPr>
            <a:r>
              <a:rPr lang="en-US" sz="2400">
                <a:latin typeface="Arial"/>
                <a:ea typeface="Calibri" panose="020F0502020204030204"/>
                <a:cs typeface="Arial"/>
              </a:rPr>
              <a:t>Mobile app delivers 5 resistance levels, enabling progressive rehabilitation.</a:t>
            </a:r>
          </a:p>
        </p:txBody>
      </p:sp>
      <p:sp>
        <p:nvSpPr>
          <p:cNvPr id="36" name="TextBox 32">
            <a:extLst>
              <a:ext uri="{FF2B5EF4-FFF2-40B4-BE49-F238E27FC236}">
                <a16:creationId xmlns:a16="http://schemas.microsoft.com/office/drawing/2014/main" id="{F1043E09-0886-2018-27A0-557A8382BB0A}"/>
              </a:ext>
            </a:extLst>
          </p:cNvPr>
          <p:cNvSpPr txBox="1"/>
          <p:nvPr/>
        </p:nvSpPr>
        <p:spPr>
          <a:xfrm>
            <a:off x="14829963" y="6766244"/>
            <a:ext cx="6044839" cy="517064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u="sng">
                <a:solidFill>
                  <a:srgbClr val="000000"/>
                </a:solidFill>
                <a:latin typeface="Arial"/>
                <a:cs typeface="Arial"/>
              </a:rPr>
              <a:t>Performance and Requirements Met:</a:t>
            </a:r>
            <a:endParaRPr lang="en-US" sz="2400" b="1" u="sng">
              <a:latin typeface="Arial"/>
              <a:ea typeface="Calibri" panose="020F0502020204030204"/>
              <a:cs typeface="Arial"/>
            </a:endParaRPr>
          </a:p>
          <a:p>
            <a:pPr marL="285750" indent="-285750">
              <a:buFont typeface="Arial,Sans-Serif"/>
              <a:buChar char="•"/>
            </a:pPr>
            <a:r>
              <a:rPr lang="en-US" sz="2400">
                <a:latin typeface="Arial"/>
                <a:ea typeface="Calibri" panose="020F0502020204030204"/>
                <a:cs typeface="Arial"/>
              </a:rPr>
              <a:t>The project specifications were completed and surpassed, having the ability to provide a reactive counter force during finger extension and wrist flexions.</a:t>
            </a:r>
          </a:p>
          <a:p>
            <a:pPr marL="285750" indent="-285750">
              <a:buFont typeface="Arial,Sans-Serif"/>
              <a:buChar char="•"/>
            </a:pPr>
            <a:r>
              <a:rPr lang="en-US" sz="2400">
                <a:latin typeface="Arial"/>
                <a:ea typeface="Calibri" panose="020F0502020204030204"/>
                <a:cs typeface="Arial"/>
              </a:rPr>
              <a:t>The connecting structure of the prototype was tested under large exponentially increasing loads demonstrating stability and durability.</a:t>
            </a:r>
          </a:p>
          <a:p>
            <a:pPr marL="285750" indent="-285750">
              <a:buFont typeface="Arial,Sans-Serif"/>
              <a:buChar char="•"/>
            </a:pPr>
            <a:r>
              <a:rPr lang="en-US" sz="2400">
                <a:latin typeface="Arial"/>
                <a:ea typeface="Calibri" panose="020F0502020204030204"/>
                <a:cs typeface="Arial"/>
              </a:rPr>
              <a:t>App integrated motor control allows user input to drive exercise collecting data for future recovery. </a:t>
            </a:r>
          </a:p>
          <a:p>
            <a:pPr algn="ctr"/>
            <a:endParaRPr lang="en-US">
              <a:ea typeface="Calibri" panose="020F0502020204030204"/>
              <a:cs typeface="Calibri" panose="020F0502020204030204"/>
            </a:endParaRPr>
          </a:p>
        </p:txBody>
      </p:sp>
      <p:sp>
        <p:nvSpPr>
          <p:cNvPr id="37" name="TextBox 32">
            <a:extLst>
              <a:ext uri="{FF2B5EF4-FFF2-40B4-BE49-F238E27FC236}">
                <a16:creationId xmlns:a16="http://schemas.microsoft.com/office/drawing/2014/main" id="{A063D6B8-DDF5-ABFE-7A79-C00357AD6D01}"/>
              </a:ext>
            </a:extLst>
          </p:cNvPr>
          <p:cNvSpPr txBox="1"/>
          <p:nvPr/>
        </p:nvSpPr>
        <p:spPr>
          <a:xfrm>
            <a:off x="14836904" y="11976975"/>
            <a:ext cx="6044839" cy="415498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u="sng">
                <a:solidFill>
                  <a:srgbClr val="000000"/>
                </a:solidFill>
                <a:latin typeface="Arial"/>
                <a:cs typeface="Arial"/>
              </a:rPr>
              <a:t>Engineering Validation:</a:t>
            </a:r>
            <a:endParaRPr lang="en-US" sz="2400" b="1" u="sng">
              <a:latin typeface="Arial"/>
              <a:ea typeface="Calibri" panose="020F0502020204030204"/>
              <a:cs typeface="Arial"/>
            </a:endParaRPr>
          </a:p>
          <a:p>
            <a:pPr marL="285750" indent="-285750">
              <a:buFont typeface="Arial,Sans-Serif"/>
              <a:buChar char="•"/>
            </a:pPr>
            <a:r>
              <a:rPr lang="en-US" sz="2400">
                <a:latin typeface="Arial"/>
                <a:ea typeface="Calibri" panose="020F0502020204030204"/>
                <a:cs typeface="Arial"/>
              </a:rPr>
              <a:t>These results demonstrate that a simple elbow brace can be transformed into a user-friendly device capable of not only providing protection, but therapist approved recovery exercises.</a:t>
            </a:r>
          </a:p>
          <a:p>
            <a:pPr marL="285750" indent="-285750">
              <a:buFont typeface="Arial,Sans-Serif"/>
              <a:buChar char="•"/>
            </a:pPr>
            <a:r>
              <a:rPr lang="en-US" sz="2400">
                <a:latin typeface="Arial"/>
                <a:ea typeface="Calibri" panose="020F0502020204030204"/>
                <a:cs typeface="Arial"/>
              </a:rPr>
              <a:t>Successful material analysis, optimized structure design, and electronic integration, proves that smart and fast recovery can be affordable, comfortable, and engineered to performance.</a:t>
            </a:r>
          </a:p>
        </p:txBody>
      </p:sp>
      <p:sp>
        <p:nvSpPr>
          <p:cNvPr id="38" name="TextBox 32">
            <a:extLst>
              <a:ext uri="{FF2B5EF4-FFF2-40B4-BE49-F238E27FC236}">
                <a16:creationId xmlns:a16="http://schemas.microsoft.com/office/drawing/2014/main" id="{8B94AD22-93C7-D679-E5C5-4ADD5FC3DA26}"/>
              </a:ext>
            </a:extLst>
          </p:cNvPr>
          <p:cNvSpPr txBox="1"/>
          <p:nvPr/>
        </p:nvSpPr>
        <p:spPr>
          <a:xfrm>
            <a:off x="14836903" y="16463631"/>
            <a:ext cx="6044839" cy="267765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u="sng">
                <a:solidFill>
                  <a:srgbClr val="000000"/>
                </a:solidFill>
                <a:latin typeface="Arial"/>
                <a:cs typeface="Arial"/>
              </a:rPr>
              <a:t>Industry Impact:</a:t>
            </a:r>
            <a:endParaRPr lang="en-US" sz="2400" b="1" u="sng">
              <a:latin typeface="Arial"/>
              <a:ea typeface="Calibri" panose="020F0502020204030204"/>
              <a:cs typeface="Arial"/>
            </a:endParaRPr>
          </a:p>
          <a:p>
            <a:pPr marL="285750" indent="-285750">
              <a:buFont typeface="Arial,Sans-Serif"/>
              <a:buChar char="•"/>
            </a:pPr>
            <a:r>
              <a:rPr lang="en-US" sz="2400">
                <a:latin typeface="Arial"/>
                <a:ea typeface="Calibri" panose="020F0502020204030204"/>
                <a:cs typeface="Arial"/>
              </a:rPr>
              <a:t>The AER Device dives into a </a:t>
            </a:r>
            <a:r>
              <a:rPr lang="en-US" sz="2400" err="1">
                <a:latin typeface="Arial"/>
                <a:ea typeface="Calibri" panose="020F0502020204030204"/>
                <a:cs typeface="Arial"/>
              </a:rPr>
              <a:t>complet</a:t>
            </a:r>
            <a:r>
              <a:rPr lang="en-US" sz="2400">
                <a:latin typeface="Arial"/>
                <a:ea typeface="Calibri" panose="020F0502020204030204"/>
                <a:cs typeface="Arial"/>
              </a:rPr>
              <a:t>ely untapped market where injury prevention meets rehabilitation through an electromechanical system. </a:t>
            </a:r>
          </a:p>
          <a:p>
            <a:pPr marL="285750" indent="-285750">
              <a:buFont typeface="Arial,Sans-Serif"/>
              <a:buChar char="•"/>
            </a:pPr>
            <a:r>
              <a:rPr lang="en-US" sz="2400">
                <a:latin typeface="Arial"/>
                <a:ea typeface="Calibri" panose="020F0502020204030204"/>
                <a:cs typeface="Arial"/>
              </a:rPr>
              <a:t>Having an approximate cost of $100 HVM manufacturing price.</a:t>
            </a:r>
          </a:p>
        </p:txBody>
      </p:sp>
      <p:pic>
        <p:nvPicPr>
          <p:cNvPr id="33" name="Picture 32" descr="A grey robotic arm with black wires&#10;&#10;AI-generated content may be incorrect.">
            <a:extLst>
              <a:ext uri="{FF2B5EF4-FFF2-40B4-BE49-F238E27FC236}">
                <a16:creationId xmlns:a16="http://schemas.microsoft.com/office/drawing/2014/main" id="{87F778BA-42AE-AC3C-AC6F-3106A5940537}"/>
              </a:ext>
            </a:extLst>
          </p:cNvPr>
          <p:cNvPicPr>
            <a:picLocks noChangeAspect="1"/>
          </p:cNvPicPr>
          <p:nvPr/>
        </p:nvPicPr>
        <p:blipFill>
          <a:blip r:embed="rId10"/>
          <a:stretch>
            <a:fillRect/>
          </a:stretch>
        </p:blipFill>
        <p:spPr>
          <a:xfrm>
            <a:off x="7782995" y="22179090"/>
            <a:ext cx="6350272" cy="3669824"/>
          </a:xfrm>
          <a:prstGeom prst="rect">
            <a:avLst/>
          </a:prstGeom>
        </p:spPr>
      </p:pic>
    </p:spTree>
    <p:extLst>
      <p:ext uri="{BB962C8B-B14F-4D97-AF65-F5344CB8AC3E}">
        <p14:creationId xmlns:p14="http://schemas.microsoft.com/office/powerpoint/2010/main" val="787918671"/>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2013 - 2022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Maddison DeLaney Walsh</dc:creator>
  <cp:revision>9</cp:revision>
  <dcterms:created xsi:type="dcterms:W3CDTF">2022-03-08T14:56:21Z</dcterms:created>
  <dcterms:modified xsi:type="dcterms:W3CDTF">2026-05-13T20:17:41Z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2024-03-04T20:39:49Z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232222cb-6465-47a9-98bb-364c632a44ab</vt:lpwstr>
  </property>
  <property fmtid="{D5CDD505-2E9C-101B-9397-08002B2CF9AE}" pid="8" name="MSIP_Label_4044bd30-2ed7-4c9d-9d12-46200872a97b_ContentBits">
    <vt:lpwstr>0</vt:lpwstr>
  </property>
</Properties>
</file>